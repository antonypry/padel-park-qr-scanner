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40E9685-6BA9-42B7-A9F5-443F83C969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EA1C44F-9538-4065-9B8F-EC82126F193C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63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BFD58BA-2A50-4A2E-8E8B-F7822876D51F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28575" rIns="0" bIns="0" anchor="t"/>
          <a:lstStyle/>
          <a:p>
            <a:pPr algn="l">
              <a:defRPr sz="105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ДЕМО ФИЧИ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1B39C5B-537B-4B6F-AE1E-CDDC3F898D88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5429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Базы клиентов и задачи обзвона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D8AFA8B-221D-41DB-BBFF-4184AA3589A5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5143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Сохраненные фильтры превращаются в рабочие списки для звонков. Менеджер видит прогресс, админ фиксирует результат по каждому клиенту.</a:t>
            </a: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14B5D647-509D-4045-A489-2867B8E565F3}"/>
              </a:ext>
            </a:extLst>
          </p:cNvPr>
          <p:cNvSpPr>
            <a:spLocks noGrp="1"/>
          </p:cNvSpPr>
          <p:nvPr/>
        </p:nvSpPr>
        <p:spPr>
          <a:xfrm>
            <a:off x="590550" y="3314700"/>
            <a:ext cx="1581150" cy="990600"/>
          </a:xfrm>
          <a:prstGeom prst="roundRect">
            <a:avLst>
              <a:gd name="adj" fmla="val 7692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598333A-726A-4C89-8BAE-9A042DB0E48A}"/>
              </a:ext>
            </a:extLst>
          </p:cNvPr>
          <p:cNvSpPr>
            <a:spLocks noGrp="1"/>
          </p:cNvSpPr>
          <p:nvPr/>
        </p:nvSpPr>
        <p:spPr>
          <a:xfrm>
            <a:off x="762000" y="3448050"/>
            <a:ext cx="1238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2F3193-04EF-4D40-8250-333D43B0F14F}"/>
              </a:ext>
            </a:extLst>
          </p:cNvPr>
          <p:cNvSpPr>
            <a:spLocks noGrp="1"/>
          </p:cNvSpPr>
          <p:nvPr/>
        </p:nvSpPr>
        <p:spPr>
          <a:xfrm>
            <a:off x="762000" y="38481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база клиентов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33390258-8203-4489-8E3A-5B77195A2030}"/>
              </a:ext>
            </a:extLst>
          </p:cNvPr>
          <p:cNvSpPr>
            <a:spLocks noGrp="1"/>
          </p:cNvSpPr>
          <p:nvPr/>
        </p:nvSpPr>
        <p:spPr>
          <a:xfrm>
            <a:off x="2362200" y="3314700"/>
            <a:ext cx="1676400" cy="990600"/>
          </a:xfrm>
          <a:prstGeom prst="roundRect">
            <a:avLst>
              <a:gd name="adj" fmla="val 7692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D545B9A-0E39-42E0-8765-A59833C129C8}"/>
              </a:ext>
            </a:extLst>
          </p:cNvPr>
          <p:cNvSpPr>
            <a:spLocks noGrp="1"/>
          </p:cNvSpPr>
          <p:nvPr/>
        </p:nvSpPr>
        <p:spPr>
          <a:xfrm>
            <a:off x="2533650" y="3448050"/>
            <a:ext cx="1333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6C90A54-AEA0-41F3-BEFB-D491E1BB4D24}"/>
              </a:ext>
            </a:extLst>
          </p:cNvPr>
          <p:cNvSpPr>
            <a:spLocks noGrp="1"/>
          </p:cNvSpPr>
          <p:nvPr/>
        </p:nvSpPr>
        <p:spPr>
          <a:xfrm>
            <a:off x="2533650" y="384810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задача обзвона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3EC6AE4F-F8F0-4FAE-BCF0-EA3E91E1300F}"/>
              </a:ext>
            </a:extLst>
          </p:cNvPr>
          <p:cNvSpPr>
            <a:spLocks noGrp="1"/>
          </p:cNvSpPr>
          <p:nvPr/>
        </p:nvSpPr>
        <p:spPr>
          <a:xfrm>
            <a:off x="4229100" y="3314700"/>
            <a:ext cx="1676400" cy="990600"/>
          </a:xfrm>
          <a:prstGeom prst="roundRect">
            <a:avLst>
              <a:gd name="adj" fmla="val 7692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7AAFEE4-F653-4B37-A523-E412A660A641}"/>
              </a:ext>
            </a:extLst>
          </p:cNvPr>
          <p:cNvSpPr>
            <a:spLocks noGrp="1"/>
          </p:cNvSpPr>
          <p:nvPr/>
        </p:nvSpPr>
        <p:spPr>
          <a:xfrm>
            <a:off x="4400550" y="3448050"/>
            <a:ext cx="1333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62E1336-9B0F-4C8D-9AB8-D156F9D1A129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клиентов в демо</a:t>
            </a: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28E7A31-B0E2-4E1A-BCDA-F0B4E03C4D17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EA63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E9FC09C-9FEA-4DE7-A7DA-1188DB4C17BC}"/>
              </a:ext>
            </a:extLst>
          </p:cNvPr>
          <p:cNvSpPr>
            <a:spLocks noGrp="1"/>
          </p:cNvSpPr>
          <p:nvPr/>
        </p:nvSpPr>
        <p:spPr>
          <a:xfrm>
            <a:off x="781050" y="4610100"/>
            <a:ext cx="495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База остается фильтром клиентской базы.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8E1C5156-6C74-47E8-ACD0-60C2417E8DAF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0854333-3697-4ED9-90FB-352BC357BF09}"/>
              </a:ext>
            </a:extLst>
          </p:cNvPr>
          <p:cNvSpPr>
            <a:spLocks noGrp="1"/>
          </p:cNvSpPr>
          <p:nvPr/>
        </p:nvSpPr>
        <p:spPr>
          <a:xfrm>
            <a:off x="781050" y="5086350"/>
            <a:ext cx="495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Задача фиксирует работу и результат звонков.</a:t>
            </a: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D9FDEE89-C438-4CE7-96EF-71F6CC6E3C42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F922827-81BB-4A34-8BF4-CD8BE06FBE64}"/>
              </a:ext>
            </a:extLst>
          </p:cNvPr>
          <p:cNvSpPr>
            <a:spLocks noGrp="1"/>
          </p:cNvSpPr>
          <p:nvPr/>
        </p:nvSpPr>
        <p:spPr>
          <a:xfrm>
            <a:off x="781050" y="5562600"/>
            <a:ext cx="495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Дедлайн ставится на задачу или на конкретного клиента.</a:t>
            </a: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791D5F39-A341-4D8F-8450-DA3DCB26296E}"/>
              </a:ext>
            </a:extLst>
          </p:cNvPr>
          <p:cNvSpPr>
            <a:spLocks noGrp="1"/>
          </p:cNvSpPr>
          <p:nvPr/>
        </p:nvSpPr>
        <p:spPr>
          <a:xfrm>
            <a:off x="6381750" y="1143000"/>
            <a:ext cx="4895850" cy="3905250"/>
          </a:xfrm>
          <a:prstGeom prst="roundRect">
            <a:avLst>
              <a:gd name="adj" fmla="val 1951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5708CC56-2AAF-477D-A4F4-352F2A0DE500}"/>
              </a:ext>
            </a:extLst>
          </p:cNvPr>
          <p:cNvSpPr>
            <a:spLocks noGrp="1"/>
          </p:cNvSpPr>
          <p:nvPr/>
        </p:nvSpPr>
        <p:spPr>
          <a:xfrm>
            <a:off x="6457950" y="1238250"/>
            <a:ext cx="4743450" cy="3714750"/>
          </a:xfrm>
          <a:prstGeom prst="roundRect">
            <a:avLst>
              <a:gd name="adj" fmla="val 2051"/>
            </a:avLst>
          </a:prstGeom>
          <a:solidFill>
            <a:srgbClr val="0D0D10"/>
          </a:solidFill>
          <a:ln w="9525">
            <a:solidFill>
              <a:srgbClr val="393942"/>
            </a:solidFill>
            <a:prstDash val="solid"/>
          </a:ln>
        </p:spPr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34150" y="1533393"/>
            <a:ext cx="4591050" cy="3124465"/>
          </a:xfrm>
          <a:prstGeom prst="rect">
            <a:avLst/>
          </a:prstGeom>
        </p:spPr>
      </p:pic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C77998E-582A-4E4B-88D2-BAE4D6DA28B2}"/>
              </a:ext>
            </a:extLst>
          </p:cNvPr>
          <p:cNvSpPr>
            <a:spLocks noGrp="1"/>
          </p:cNvSpPr>
          <p:nvPr/>
        </p:nvSpPr>
        <p:spPr>
          <a:xfrm>
            <a:off x="6381750" y="5257800"/>
            <a:ext cx="4895850" cy="9525"/>
          </a:xfrm>
          <a:prstGeom prst="rect">
            <a:avLst/>
          </a:prstGeom>
          <a:solidFill>
            <a:srgbClr val="2A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D2444C8-BB47-4A60-92CF-78D86ECC76E8}"/>
              </a:ext>
            </a:extLst>
          </p:cNvPr>
          <p:cNvSpPr>
            <a:spLocks noGrp="1"/>
          </p:cNvSpPr>
          <p:nvPr/>
        </p:nvSpPr>
        <p:spPr>
          <a:xfrm>
            <a:off x="6572250" y="5486400"/>
            <a:ext cx="4514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Основной экран: задача, список клиентов, статусы, дедлайны и прогресс.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CFA5927-2078-4FDC-A024-11AD7F8DAA0C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Padel Park CRM / базы и задачи обзвона / 01</a:t>
            </a:r>
          </a:p>
        </p:txBody>
      </p:sp>
    </p:spTree>
    <p:extLst>
      <p:ext uri="{BB962C8B-B14F-4D97-AF65-F5344CB8AC3E}">
        <p14:creationId xmlns:p14="http://schemas.microsoft.com/office/powerpoint/2010/main" val="291188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9BC65CA-0748-4D8A-9B98-5E97FC8B22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0B1BC20A-2263-49F8-8479-D632405F3D1B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63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C15D428-E243-423E-8BFF-573860FB57C5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28575" rIns="0" bIns="0" anchor="t"/>
          <a:lstStyle/>
          <a:p>
            <a:pPr algn="l">
              <a:defRPr sz="105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ЛОГИКА ПРОДУКТА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B5CABAB-4D48-4ED3-9840-EF5A4B06435B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6667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Разделили отбор клиентов и выполнение задачи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A3F7A1F-080B-47BE-A8B5-353CBD2A0C7A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628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Теперь база отвечает за условие попадания клиента, а задача обзвона отвечает за процесс работы.</a:t>
            </a: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32BB0258-158D-48DB-92D6-B4696AF2003F}"/>
              </a:ext>
            </a:extLst>
          </p:cNvPr>
          <p:cNvSpPr>
            <a:spLocks noGrp="1"/>
          </p:cNvSpPr>
          <p:nvPr/>
        </p:nvSpPr>
        <p:spPr>
          <a:xfrm>
            <a:off x="590550" y="3048000"/>
            <a:ext cx="2324100" cy="1200150"/>
          </a:xfrm>
          <a:prstGeom prst="roundRect">
            <a:avLst>
              <a:gd name="adj" fmla="val 6349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259EE93-E503-4B2A-B4AA-E922602589BE}"/>
              </a:ext>
            </a:extLst>
          </p:cNvPr>
          <p:cNvSpPr>
            <a:spLocks noGrp="1"/>
          </p:cNvSpPr>
          <p:nvPr/>
        </p:nvSpPr>
        <p:spPr>
          <a:xfrm>
            <a:off x="762000" y="3219450"/>
            <a:ext cx="95250" cy="419100"/>
          </a:xfrm>
          <a:prstGeom prst="rect">
            <a:avLst/>
          </a:prstGeom>
          <a:solidFill>
            <a:srgbClr val="7171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76CB113-B9D5-4ABE-AE64-B3820464BC7C}"/>
              </a:ext>
            </a:extLst>
          </p:cNvPr>
          <p:cNvSpPr>
            <a:spLocks noGrp="1"/>
          </p:cNvSpPr>
          <p:nvPr/>
        </p:nvSpPr>
        <p:spPr>
          <a:xfrm>
            <a:off x="990600" y="321945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Клиент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CA19B77-F1F0-45C1-8A20-77A88FD5468C}"/>
              </a:ext>
            </a:extLst>
          </p:cNvPr>
          <p:cNvSpPr>
            <a:spLocks noGrp="1"/>
          </p:cNvSpPr>
          <p:nvPr/>
        </p:nvSpPr>
        <p:spPr>
          <a:xfrm>
            <a:off x="990600" y="356235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Карточка CRM, визиты, источник, сегмент и актуальный статус.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80F9E0AC-4167-4AAE-BD0E-E07CCABF3B82}"/>
              </a:ext>
            </a:extLst>
          </p:cNvPr>
          <p:cNvSpPr>
            <a:spLocks noGrp="1"/>
          </p:cNvSpPr>
          <p:nvPr/>
        </p:nvSpPr>
        <p:spPr>
          <a:xfrm>
            <a:off x="3352800" y="3048000"/>
            <a:ext cx="2324100" cy="1200150"/>
          </a:xfrm>
          <a:prstGeom prst="roundRect">
            <a:avLst>
              <a:gd name="adj" fmla="val 6349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6A3808C-FB26-4A98-8DB7-DD33CB22268C}"/>
              </a:ext>
            </a:extLst>
          </p:cNvPr>
          <p:cNvSpPr>
            <a:spLocks noGrp="1"/>
          </p:cNvSpPr>
          <p:nvPr/>
        </p:nvSpPr>
        <p:spPr>
          <a:xfrm>
            <a:off x="3524250" y="3219450"/>
            <a:ext cx="95250" cy="419100"/>
          </a:xfrm>
          <a:prstGeom prst="rect">
            <a:avLst/>
          </a:prstGeom>
          <a:solidFill>
            <a:srgbClr val="EA63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CA4B7A8-9346-44C5-8A14-2EA2303DA689}"/>
              </a:ext>
            </a:extLst>
          </p:cNvPr>
          <p:cNvSpPr>
            <a:spLocks noGrp="1"/>
          </p:cNvSpPr>
          <p:nvPr/>
        </p:nvSpPr>
        <p:spPr>
          <a:xfrm>
            <a:off x="3752850" y="321945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База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A029C96-4B51-4F38-BA89-D8F07956C554}"/>
              </a:ext>
            </a:extLst>
          </p:cNvPr>
          <p:cNvSpPr>
            <a:spLocks noGrp="1"/>
          </p:cNvSpPr>
          <p:nvPr/>
        </p:nvSpPr>
        <p:spPr>
          <a:xfrm>
            <a:off x="3752850" y="356235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Сохраненный фильтр: кто должен попасть в выборку.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C0E77A0C-1A6F-47DC-B2A7-DF55A2B76B20}"/>
              </a:ext>
            </a:extLst>
          </p:cNvPr>
          <p:cNvSpPr>
            <a:spLocks noGrp="1"/>
          </p:cNvSpPr>
          <p:nvPr/>
        </p:nvSpPr>
        <p:spPr>
          <a:xfrm>
            <a:off x="6115050" y="3048000"/>
            <a:ext cx="2324100" cy="1200150"/>
          </a:xfrm>
          <a:prstGeom prst="roundRect">
            <a:avLst>
              <a:gd name="adj" fmla="val 6349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F701695-D8DE-4095-A3FF-B1147CC350B7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95250" cy="419100"/>
          </a:xfrm>
          <a:prstGeom prst="rect">
            <a:avLst/>
          </a:prstGeom>
          <a:solidFill>
            <a:srgbClr val="3B82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0929727-B643-4D48-A8DC-8664ACB49653}"/>
              </a:ext>
            </a:extLst>
          </p:cNvPr>
          <p:cNvSpPr>
            <a:spLocks noGrp="1"/>
          </p:cNvSpPr>
          <p:nvPr/>
        </p:nvSpPr>
        <p:spPr>
          <a:xfrm>
            <a:off x="6515100" y="321945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Задача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5B700E1-5375-47E5-A890-F16116123715}"/>
              </a:ext>
            </a:extLst>
          </p:cNvPr>
          <p:cNvSpPr>
            <a:spLocks noGrp="1"/>
          </p:cNvSpPr>
          <p:nvPr/>
        </p:nvSpPr>
        <p:spPr>
          <a:xfrm>
            <a:off x="6515100" y="356235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Рабочий список для исполнителя и контроля прогресса.</a:t>
            </a: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362A3B2F-808D-43DB-8045-DAB914224E8D}"/>
              </a:ext>
            </a:extLst>
          </p:cNvPr>
          <p:cNvSpPr>
            <a:spLocks noGrp="1"/>
          </p:cNvSpPr>
          <p:nvPr/>
        </p:nvSpPr>
        <p:spPr>
          <a:xfrm>
            <a:off x="8877300" y="3048000"/>
            <a:ext cx="2324100" cy="1200150"/>
          </a:xfrm>
          <a:prstGeom prst="roundRect">
            <a:avLst>
              <a:gd name="adj" fmla="val 6349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E769B37-AFA0-46D1-BD68-37F304FCEB4A}"/>
              </a:ext>
            </a:extLst>
          </p:cNvPr>
          <p:cNvSpPr>
            <a:spLocks noGrp="1"/>
          </p:cNvSpPr>
          <p:nvPr/>
        </p:nvSpPr>
        <p:spPr>
          <a:xfrm>
            <a:off x="9048750" y="3219450"/>
            <a:ext cx="95250" cy="419100"/>
          </a:xfrm>
          <a:prstGeom prst="rect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61B6EDE-E338-40B2-A87B-94FBBCB6F59B}"/>
              </a:ext>
            </a:extLst>
          </p:cNvPr>
          <p:cNvSpPr>
            <a:spLocks noGrp="1"/>
          </p:cNvSpPr>
          <p:nvPr/>
        </p:nvSpPr>
        <p:spPr>
          <a:xfrm>
            <a:off x="9277350" y="321945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Результат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2EE57BC-FC14-4652-AB64-EC2B67BF72CE}"/>
              </a:ext>
            </a:extLst>
          </p:cNvPr>
          <p:cNvSpPr>
            <a:spLocks noGrp="1"/>
          </p:cNvSpPr>
          <p:nvPr/>
        </p:nvSpPr>
        <p:spPr>
          <a:xfrm>
            <a:off x="9277350" y="356235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Статус звонка, дедлайн и саммари по конкретному клиенту.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3567775-6CE6-4E2E-93EC-62A782EE83CF}"/>
              </a:ext>
            </a:extLst>
          </p:cNvPr>
          <p:cNvSpPr>
            <a:spLocks noGrp="1"/>
          </p:cNvSpPr>
          <p:nvPr/>
        </p:nvSpPr>
        <p:spPr>
          <a:xfrm>
            <a:off x="3009900" y="3629025"/>
            <a:ext cx="247650" cy="19050"/>
          </a:xfrm>
          <a:prstGeom prst="rect">
            <a:avLst/>
          </a:prstGeom>
          <a:solidFill>
            <a:srgbClr val="393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Треугольник 22">
            <a:extLst>
              <a:ext uri="{FF2B5EF4-FFF2-40B4-BE49-F238E27FC236}">
                <a16:creationId xmlns:a16="http://schemas.microsoft.com/office/drawing/2014/main" id="{C96A3661-3526-42B7-8EFE-4103628357E4}"/>
              </a:ext>
            </a:extLst>
          </p:cNvPr>
          <p:cNvSpPr>
            <a:spLocks noGrp="1"/>
          </p:cNvSpPr>
          <p:nvPr/>
        </p:nvSpPr>
        <p:spPr>
          <a:xfrm>
            <a:off x="3219450" y="3581400"/>
            <a:ext cx="85725" cy="114300"/>
          </a:xfrm>
          <a:prstGeom prst="triangle">
            <a:avLst/>
          </a:prstGeom>
          <a:solidFill>
            <a:srgbClr val="393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323C43D-9466-437D-A706-041E1BED80B3}"/>
              </a:ext>
            </a:extLst>
          </p:cNvPr>
          <p:cNvSpPr>
            <a:spLocks noGrp="1"/>
          </p:cNvSpPr>
          <p:nvPr/>
        </p:nvSpPr>
        <p:spPr>
          <a:xfrm>
            <a:off x="5772150" y="3629025"/>
            <a:ext cx="247650" cy="19050"/>
          </a:xfrm>
          <a:prstGeom prst="rect">
            <a:avLst/>
          </a:prstGeom>
          <a:solidFill>
            <a:srgbClr val="393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Треугольник 24">
            <a:extLst>
              <a:ext uri="{FF2B5EF4-FFF2-40B4-BE49-F238E27FC236}">
                <a16:creationId xmlns:a16="http://schemas.microsoft.com/office/drawing/2014/main" id="{952366FF-E8C7-4BD4-97D3-2F62A62518E5}"/>
              </a:ext>
            </a:extLst>
          </p:cNvPr>
          <p:cNvSpPr>
            <a:spLocks noGrp="1"/>
          </p:cNvSpPr>
          <p:nvPr/>
        </p:nvSpPr>
        <p:spPr>
          <a:xfrm>
            <a:off x="5981700" y="3581400"/>
            <a:ext cx="85725" cy="114300"/>
          </a:xfrm>
          <a:prstGeom prst="triangle">
            <a:avLst/>
          </a:prstGeom>
          <a:solidFill>
            <a:srgbClr val="393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13B1377-B0CC-4D53-8FBE-C46828143E49}"/>
              </a:ext>
            </a:extLst>
          </p:cNvPr>
          <p:cNvSpPr>
            <a:spLocks noGrp="1"/>
          </p:cNvSpPr>
          <p:nvPr/>
        </p:nvSpPr>
        <p:spPr>
          <a:xfrm>
            <a:off x="8534400" y="3629025"/>
            <a:ext cx="247650" cy="19050"/>
          </a:xfrm>
          <a:prstGeom prst="rect">
            <a:avLst/>
          </a:prstGeom>
          <a:solidFill>
            <a:srgbClr val="393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Треугольник 26">
            <a:extLst>
              <a:ext uri="{FF2B5EF4-FFF2-40B4-BE49-F238E27FC236}">
                <a16:creationId xmlns:a16="http://schemas.microsoft.com/office/drawing/2014/main" id="{CAFFA0FB-8A82-45F9-8535-E113FFEDD1DC}"/>
              </a:ext>
            </a:extLst>
          </p:cNvPr>
          <p:cNvSpPr>
            <a:spLocks noGrp="1"/>
          </p:cNvSpPr>
          <p:nvPr/>
        </p:nvSpPr>
        <p:spPr>
          <a:xfrm>
            <a:off x="8743950" y="3581400"/>
            <a:ext cx="85725" cy="114300"/>
          </a:xfrm>
          <a:prstGeom prst="triangle">
            <a:avLst/>
          </a:prstGeom>
          <a:solidFill>
            <a:srgbClr val="3939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Скругленный прямоугольник 27">
            <a:extLst>
              <a:ext uri="{FF2B5EF4-FFF2-40B4-BE49-F238E27FC236}">
                <a16:creationId xmlns:a16="http://schemas.microsoft.com/office/drawing/2014/main" id="{8133F09A-164A-4938-9DCE-0E86921C0EE4}"/>
              </a:ext>
            </a:extLst>
          </p:cNvPr>
          <p:cNvSpPr>
            <a:spLocks noGrp="1"/>
          </p:cNvSpPr>
          <p:nvPr/>
        </p:nvSpPr>
        <p:spPr>
          <a:xfrm>
            <a:off x="1409700" y="4838700"/>
            <a:ext cx="9391650" cy="838200"/>
          </a:xfrm>
          <a:prstGeom prst="roundRect">
            <a:avLst>
              <a:gd name="adj" fmla="val 9091"/>
            </a:avLst>
          </a:prstGeom>
          <a:solidFill>
            <a:srgbClr val="0D0D10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2D61E08-B632-44EF-B765-2ED655C8BA81}"/>
              </a:ext>
            </a:extLst>
          </p:cNvPr>
          <p:cNvSpPr>
            <a:spLocks noGrp="1"/>
          </p:cNvSpPr>
          <p:nvPr/>
        </p:nvSpPr>
        <p:spPr>
          <a:xfrm>
            <a:off x="1714500" y="5067300"/>
            <a:ext cx="8782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Зачем так: одну и ту же базу можно использовать повторно, а каждая задача сохраняет свою историю звонков и не смешивает операционную работу с карточкой клиента.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C8140E7-DE74-440F-A9FD-6AA360469CEA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Padel Park CRM / базы и задачи обзвона / 02</a:t>
            </a:r>
          </a:p>
        </p:txBody>
      </p:sp>
    </p:spTree>
    <p:extLst>
      <p:ext uri="{BB962C8B-B14F-4D97-AF65-F5344CB8AC3E}">
        <p14:creationId xmlns:p14="http://schemas.microsoft.com/office/powerpoint/2010/main" val="120009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4CBC457-8A53-4A8A-8DAD-65908BC612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C00BDE9F-BF78-4B53-A778-ADF19F815094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63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70FF964-85A5-4951-BCAB-41362737D73F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28575" rIns="0" bIns="0" anchor="t"/>
          <a:lstStyle/>
          <a:p>
            <a:pPr algn="l">
              <a:defRPr sz="105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БАЗЫ КЛИЕНТОВ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12EA4ED-EADC-4BAA-9C42-46E63C3E8373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6667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База показывает текущую выборку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3EE9C30E-5A7E-431A-8055-49E84655AACF}"/>
              </a:ext>
            </a:extLst>
          </p:cNvPr>
          <p:cNvSpPr>
            <a:spLocks noGrp="1"/>
          </p:cNvSpPr>
          <p:nvPr/>
        </p:nvSpPr>
        <p:spPr>
          <a:xfrm>
            <a:off x="476250" y="1543050"/>
            <a:ext cx="7277100" cy="4133850"/>
          </a:xfrm>
          <a:prstGeom prst="roundRect">
            <a:avLst>
              <a:gd name="adj" fmla="val 1843"/>
            </a:avLst>
          </a:prstGeom>
          <a:solidFill>
            <a:srgbClr val="0D0D10"/>
          </a:solidFill>
          <a:ln w="9525">
            <a:solidFill>
              <a:srgbClr val="393942"/>
            </a:solidFill>
            <a:prstDash val="solid"/>
          </a:ln>
        </p:spPr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89653" y="1619250"/>
            <a:ext cx="5850294" cy="398145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3B88340-1D38-4590-A801-1FE698FEACD0}"/>
              </a:ext>
            </a:extLst>
          </p:cNvPr>
          <p:cNvSpPr>
            <a:spLocks noGrp="1"/>
          </p:cNvSpPr>
          <p:nvPr/>
        </p:nvSpPr>
        <p:spPr>
          <a:xfrm>
            <a:off x="8134350" y="1619250"/>
            <a:ext cx="3219450" cy="1123950"/>
          </a:xfrm>
          <a:prstGeom prst="roundRect">
            <a:avLst>
              <a:gd name="adj" fmla="val 6780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47F34C79-A42F-4A4E-B9B7-564A46FB3248}"/>
              </a:ext>
            </a:extLst>
          </p:cNvPr>
          <p:cNvSpPr>
            <a:spLocks noGrp="1"/>
          </p:cNvSpPr>
          <p:nvPr/>
        </p:nvSpPr>
        <p:spPr>
          <a:xfrm>
            <a:off x="8286750" y="17811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A63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24DCD0A-024A-46C7-96C3-D731263FB76C}"/>
              </a:ext>
            </a:extLst>
          </p:cNvPr>
          <p:cNvSpPr>
            <a:spLocks noGrp="1"/>
          </p:cNvSpPr>
          <p:nvPr/>
        </p:nvSpPr>
        <p:spPr>
          <a:xfrm>
            <a:off x="8286750" y="180975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55C68AD-7BA5-44F0-9C55-8B62AE3FE83A}"/>
              </a:ext>
            </a:extLst>
          </p:cNvPr>
          <p:cNvSpPr>
            <a:spLocks noGrp="1"/>
          </p:cNvSpPr>
          <p:nvPr/>
        </p:nvSpPr>
        <p:spPr>
          <a:xfrm>
            <a:off x="8705850" y="17716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Список баз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2D4CA87-37C9-4ADB-A54B-1CDAC2CB5914}"/>
              </a:ext>
            </a:extLst>
          </p:cNvPr>
          <p:cNvSpPr>
            <a:spLocks noGrp="1"/>
          </p:cNvSpPr>
          <p:nvPr/>
        </p:nvSpPr>
        <p:spPr>
          <a:xfrm>
            <a:off x="8705850" y="2076450"/>
            <a:ext cx="2476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Видно название, тип базы, размер выборки и кто ее создал.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96D0EEA0-4AAC-4401-A889-8FFB3D8C1507}"/>
              </a:ext>
            </a:extLst>
          </p:cNvPr>
          <p:cNvSpPr>
            <a:spLocks noGrp="1"/>
          </p:cNvSpPr>
          <p:nvPr/>
        </p:nvSpPr>
        <p:spPr>
          <a:xfrm>
            <a:off x="8134350" y="3009900"/>
            <a:ext cx="3219450" cy="1123950"/>
          </a:xfrm>
          <a:prstGeom prst="roundRect">
            <a:avLst>
              <a:gd name="adj" fmla="val 6780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09CB8B0D-CA83-42AC-A411-35A08803DF62}"/>
              </a:ext>
            </a:extLst>
          </p:cNvPr>
          <p:cNvSpPr>
            <a:spLocks noGrp="1"/>
          </p:cNvSpPr>
          <p:nvPr/>
        </p:nvSpPr>
        <p:spPr>
          <a:xfrm>
            <a:off x="8286750" y="31718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C277635-6860-4C08-B05B-F7D49E90A822}"/>
              </a:ext>
            </a:extLst>
          </p:cNvPr>
          <p:cNvSpPr>
            <a:spLocks noGrp="1"/>
          </p:cNvSpPr>
          <p:nvPr/>
        </p:nvSpPr>
        <p:spPr>
          <a:xfrm>
            <a:off x="8286750" y="320040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1D82CC-1520-45F8-A714-A7F92FCD6B38}"/>
              </a:ext>
            </a:extLst>
          </p:cNvPr>
          <p:cNvSpPr>
            <a:spLocks noGrp="1"/>
          </p:cNvSpPr>
          <p:nvPr/>
        </p:nvSpPr>
        <p:spPr>
          <a:xfrm>
            <a:off x="8705850" y="31623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Последняя задача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947A6C-44BB-466F-B599-2C6E4D8B613E}"/>
              </a:ext>
            </a:extLst>
          </p:cNvPr>
          <p:cNvSpPr>
            <a:spLocks noGrp="1"/>
          </p:cNvSpPr>
          <p:nvPr/>
        </p:nvSpPr>
        <p:spPr>
          <a:xfrm>
            <a:off x="8705850" y="3467100"/>
            <a:ext cx="2476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В строке базы видно, когда по ней уже запускали обзвон.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8655723-FFC9-459F-A4ED-32304B659BE8}"/>
              </a:ext>
            </a:extLst>
          </p:cNvPr>
          <p:cNvSpPr>
            <a:spLocks noGrp="1"/>
          </p:cNvSpPr>
          <p:nvPr/>
        </p:nvSpPr>
        <p:spPr>
          <a:xfrm>
            <a:off x="8134350" y="4400550"/>
            <a:ext cx="3219450" cy="1123950"/>
          </a:xfrm>
          <a:prstGeom prst="roundRect">
            <a:avLst>
              <a:gd name="adj" fmla="val 6780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D32BAB94-37A7-447E-A6DC-05BCC1225CBF}"/>
              </a:ext>
            </a:extLst>
          </p:cNvPr>
          <p:cNvSpPr>
            <a:spLocks noGrp="1"/>
          </p:cNvSpPr>
          <p:nvPr/>
        </p:nvSpPr>
        <p:spPr>
          <a:xfrm>
            <a:off x="8286750" y="45624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9DB1F7A-C626-4891-A434-8397606ED04A}"/>
              </a:ext>
            </a:extLst>
          </p:cNvPr>
          <p:cNvSpPr>
            <a:spLocks noGrp="1"/>
          </p:cNvSpPr>
          <p:nvPr/>
        </p:nvSpPr>
        <p:spPr>
          <a:xfrm>
            <a:off x="8286750" y="459105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3F78028-DACD-4D04-9A93-70F7314C82EA}"/>
              </a:ext>
            </a:extLst>
          </p:cNvPr>
          <p:cNvSpPr>
            <a:spLocks noGrp="1"/>
          </p:cNvSpPr>
          <p:nvPr/>
        </p:nvSpPr>
        <p:spPr>
          <a:xfrm>
            <a:off x="8705850" y="45529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Расхождение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D11CCEF-9F5E-4880-95F7-CF17813CEAA1}"/>
              </a:ext>
            </a:extLst>
          </p:cNvPr>
          <p:cNvSpPr>
            <a:spLocks noGrp="1"/>
          </p:cNvSpPr>
          <p:nvPr/>
        </p:nvSpPr>
        <p:spPr>
          <a:xfrm>
            <a:off x="8705850" y="4857750"/>
            <a:ext cx="2476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CRM показывает разницу между текущей базой и клиентами в задаче.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23B593B-717C-4CDC-A299-824253EBC436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Padel Park CRM / базы и задачи обзвона / 03</a:t>
            </a:r>
          </a:p>
        </p:txBody>
      </p:sp>
    </p:spTree>
    <p:extLst>
      <p:ext uri="{BB962C8B-B14F-4D97-AF65-F5344CB8AC3E}">
        <p14:creationId xmlns:p14="http://schemas.microsoft.com/office/powerpoint/2010/main" val="1968391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7DFC16A-84A4-456F-926D-779A82C2C5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B9EEECCE-8B9D-40F2-B50F-20FB6278A236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63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6B66E1F-7051-41F2-BA32-FF8119ED9351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28575" rIns="0" bIns="0" anchor="t"/>
          <a:lstStyle/>
          <a:p>
            <a:pPr algn="l">
              <a:defRPr sz="105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СОЗДАНИЕ ЗАДАЧИ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E6FEAAB-B7FF-43FB-9AB6-BBDFA728BDE7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6667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Из базы создается задача обзвона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4EE175AE-0BF4-4407-A669-DC27503EC052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6515100" cy="4191000"/>
          </a:xfrm>
          <a:prstGeom prst="roundRect">
            <a:avLst>
              <a:gd name="adj" fmla="val 1818"/>
            </a:avLst>
          </a:prstGeom>
          <a:solidFill>
            <a:srgbClr val="0D0D10"/>
          </a:solidFill>
          <a:ln w="9525">
            <a:solidFill>
              <a:srgbClr val="393942"/>
            </a:solidFill>
            <a:prstDash val="solid"/>
          </a:ln>
        </p:spPr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3815" y="1581150"/>
            <a:ext cx="5934269" cy="40386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74118632-E343-48E1-9A78-73B4DFE733A2}"/>
              </a:ext>
            </a:extLst>
          </p:cNvPr>
          <p:cNvSpPr>
            <a:spLocks noGrp="1"/>
          </p:cNvSpPr>
          <p:nvPr/>
        </p:nvSpPr>
        <p:spPr>
          <a:xfrm>
            <a:off x="7486650" y="1619250"/>
            <a:ext cx="3676650" cy="1447800"/>
          </a:xfrm>
          <a:prstGeom prst="roundRect">
            <a:avLst>
              <a:gd name="adj" fmla="val 5263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F11CF559-2BE3-43B7-B71C-8E689E3FA54F}"/>
              </a:ext>
            </a:extLst>
          </p:cNvPr>
          <p:cNvSpPr>
            <a:spLocks noGrp="1"/>
          </p:cNvSpPr>
          <p:nvPr/>
        </p:nvSpPr>
        <p:spPr>
          <a:xfrm>
            <a:off x="7772400" y="1924050"/>
            <a:ext cx="1676400" cy="285750"/>
          </a:xfrm>
          <a:prstGeom prst="roundRect">
            <a:avLst>
              <a:gd name="adj" fmla="val 26667"/>
            </a:avLst>
          </a:prstGeom>
          <a:solidFill>
            <a:srgbClr val="EA63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4AA2E5F-E456-49B6-89FD-D7560B2D6783}"/>
              </a:ext>
            </a:extLst>
          </p:cNvPr>
          <p:cNvSpPr>
            <a:spLocks noGrp="1"/>
          </p:cNvSpPr>
          <p:nvPr/>
        </p:nvSpPr>
        <p:spPr>
          <a:xfrm>
            <a:off x="7772400" y="1952625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Фиксированный список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0C00FF7-86E3-46B6-AB07-E9818B884635}"/>
              </a:ext>
            </a:extLst>
          </p:cNvPr>
          <p:cNvSpPr>
            <a:spLocks noGrp="1"/>
          </p:cNvSpPr>
          <p:nvPr/>
        </p:nvSpPr>
        <p:spPr>
          <a:xfrm>
            <a:off x="7772400" y="2381250"/>
            <a:ext cx="3009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Клиенты фиксируются на момент создания задачи. Подходит для одноразового обзвона по готовой выборке.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2841C491-2894-4360-A214-9CF22A148334}"/>
              </a:ext>
            </a:extLst>
          </p:cNvPr>
          <p:cNvSpPr>
            <a:spLocks noGrp="1"/>
          </p:cNvSpPr>
          <p:nvPr/>
        </p:nvSpPr>
        <p:spPr>
          <a:xfrm>
            <a:off x="7486650" y="3409950"/>
            <a:ext cx="3676650" cy="1447800"/>
          </a:xfrm>
          <a:prstGeom prst="roundRect">
            <a:avLst>
              <a:gd name="adj" fmla="val 5263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43C809F4-92C9-41B0-ADD4-240E0D74C3F9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1562100" cy="285750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E9F56AF-FEF2-4C8D-96D7-79E6B383CF7E}"/>
              </a:ext>
            </a:extLst>
          </p:cNvPr>
          <p:cNvSpPr>
            <a:spLocks noGrp="1"/>
          </p:cNvSpPr>
          <p:nvPr/>
        </p:nvSpPr>
        <p:spPr>
          <a:xfrm>
            <a:off x="7772400" y="3743325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Автообновляемая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FE8C48F-9CD1-45B0-81BB-4A71A249C469}"/>
              </a:ext>
            </a:extLst>
          </p:cNvPr>
          <p:cNvSpPr>
            <a:spLocks noGrp="1"/>
          </p:cNvSpPr>
          <p:nvPr/>
        </p:nvSpPr>
        <p:spPr>
          <a:xfrm>
            <a:off x="7772400" y="4171950"/>
            <a:ext cx="3009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Новые клиенты могут подтягиваться, если позже начали подходить под фильтр базы.</a:t>
            </a: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F2ED3736-82DB-4111-A603-B9E84B4500B3}"/>
              </a:ext>
            </a:extLst>
          </p:cNvPr>
          <p:cNvSpPr>
            <a:spLocks noGrp="1"/>
          </p:cNvSpPr>
          <p:nvPr/>
        </p:nvSpPr>
        <p:spPr>
          <a:xfrm>
            <a:off x="7524750" y="53340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9600D54-7A39-4AD1-8DF6-637C72ABF758}"/>
              </a:ext>
            </a:extLst>
          </p:cNvPr>
          <p:cNvSpPr>
            <a:spLocks noGrp="1"/>
          </p:cNvSpPr>
          <p:nvPr/>
        </p:nvSpPr>
        <p:spPr>
          <a:xfrm>
            <a:off x="7696200" y="525780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В задаче выбираются исполнитель, дедлайн и описание.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19A6A65-1FFA-445B-94FA-F2310AFE6326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Padel Park CRM / базы и задачи обзвона / 04</a:t>
            </a:r>
          </a:p>
        </p:txBody>
      </p:sp>
    </p:spTree>
    <p:extLst>
      <p:ext uri="{BB962C8B-B14F-4D97-AF65-F5344CB8AC3E}">
        <p14:creationId xmlns:p14="http://schemas.microsoft.com/office/powerpoint/2010/main" val="1806280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6CA4334-DBD0-4226-AB48-8793377EB9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552AD66-E399-41C8-BDF9-A772240321FE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63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DBE8CDB-1085-4215-BE5D-E6424D92C41C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28575" rIns="0" bIns="0" anchor="t"/>
          <a:lstStyle/>
          <a:p>
            <a:pPr algn="l">
              <a:defRPr sz="105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РАБОЧИЙ ЭКРАН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819478F-98BA-4C0D-80A6-94D78277D7FF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6667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Прогресс задачи в одном экране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E681325A-C320-40B5-8ECC-69E6727C9D32}"/>
              </a:ext>
            </a:extLst>
          </p:cNvPr>
          <p:cNvSpPr>
            <a:spLocks noGrp="1"/>
          </p:cNvSpPr>
          <p:nvPr/>
        </p:nvSpPr>
        <p:spPr>
          <a:xfrm>
            <a:off x="8058150" y="1619250"/>
            <a:ext cx="1485900" cy="990600"/>
          </a:xfrm>
          <a:prstGeom prst="roundRect">
            <a:avLst>
              <a:gd name="adj" fmla="val 7692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C0B6A73-1CA5-433F-A33C-EF2028AB8D87}"/>
              </a:ext>
            </a:extLst>
          </p:cNvPr>
          <p:cNvSpPr>
            <a:spLocks noGrp="1"/>
          </p:cNvSpPr>
          <p:nvPr/>
        </p:nvSpPr>
        <p:spPr>
          <a:xfrm>
            <a:off x="8229600" y="1752600"/>
            <a:ext cx="114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54E4B78-A514-4CC4-9D17-B86D4B6F8CDE}"/>
              </a:ext>
            </a:extLst>
          </p:cNvPr>
          <p:cNvSpPr>
            <a:spLocks noGrp="1"/>
          </p:cNvSpPr>
          <p:nvPr/>
        </p:nvSpPr>
        <p:spPr>
          <a:xfrm>
            <a:off x="8229600" y="21526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клиентов в задаче</a:t>
            </a: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75B46282-7FA6-4F58-AF7E-2529E670A4F0}"/>
              </a:ext>
            </a:extLst>
          </p:cNvPr>
          <p:cNvSpPr>
            <a:spLocks noGrp="1"/>
          </p:cNvSpPr>
          <p:nvPr/>
        </p:nvSpPr>
        <p:spPr>
          <a:xfrm>
            <a:off x="9715500" y="1619250"/>
            <a:ext cx="1676400" cy="990600"/>
          </a:xfrm>
          <a:prstGeom prst="roundRect">
            <a:avLst>
              <a:gd name="adj" fmla="val 7692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2A0227-DCCF-470E-85D6-502B9DB46461}"/>
              </a:ext>
            </a:extLst>
          </p:cNvPr>
          <p:cNvSpPr>
            <a:spLocks noGrp="1"/>
          </p:cNvSpPr>
          <p:nvPr/>
        </p:nvSpPr>
        <p:spPr>
          <a:xfrm>
            <a:off x="9886950" y="1752600"/>
            <a:ext cx="1333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5544D9A-570E-4EAD-80CE-388228093907}"/>
              </a:ext>
            </a:extLst>
          </p:cNvPr>
          <p:cNvSpPr>
            <a:spLocks noGrp="1"/>
          </p:cNvSpPr>
          <p:nvPr/>
        </p:nvSpPr>
        <p:spPr>
          <a:xfrm>
            <a:off x="9886950" y="215265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результатов проставлено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B08383CB-18B9-4CDB-9CC8-A71D875C34F1}"/>
              </a:ext>
            </a:extLst>
          </p:cNvPr>
          <p:cNvSpPr>
            <a:spLocks noGrp="1"/>
          </p:cNvSpPr>
          <p:nvPr/>
        </p:nvSpPr>
        <p:spPr>
          <a:xfrm>
            <a:off x="8058150" y="2628900"/>
            <a:ext cx="1485900" cy="990600"/>
          </a:xfrm>
          <a:prstGeom prst="roundRect">
            <a:avLst>
              <a:gd name="adj" fmla="val 7692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3DF1ED0-C639-4992-9CF2-7EE48D4D7DC8}"/>
              </a:ext>
            </a:extLst>
          </p:cNvPr>
          <p:cNvSpPr>
            <a:spLocks noGrp="1"/>
          </p:cNvSpPr>
          <p:nvPr/>
        </p:nvSpPr>
        <p:spPr>
          <a:xfrm>
            <a:off x="8229600" y="2762250"/>
            <a:ext cx="114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0073954-A6D9-4DCF-87FA-417797705032}"/>
              </a:ext>
            </a:extLst>
          </p:cNvPr>
          <p:cNvSpPr>
            <a:spLocks noGrp="1"/>
          </p:cNvSpPr>
          <p:nvPr/>
        </p:nvSpPr>
        <p:spPr>
          <a:xfrm>
            <a:off x="8229600" y="31623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 dirty="0" err="1">
                <a:solidFill>
                  <a:srgbClr val="A1A1AA"/>
                </a:solidFill>
                <a:latin typeface="Aptos"/>
                <a:ea typeface="Aptos"/>
                <a:cs typeface="Aptos"/>
              </a:rPr>
              <a:t>просрочек</a:t>
            </a:r>
            <a:r>
              <a:rPr sz="900" b="0" dirty="0">
                <a:solidFill>
                  <a:srgbClr val="A1A1AA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A1A1AA"/>
                </a:solidFill>
                <a:latin typeface="Aptos"/>
                <a:ea typeface="Aptos"/>
                <a:cs typeface="Aptos"/>
              </a:rPr>
              <a:t>в</a:t>
            </a:r>
            <a:r>
              <a:rPr sz="900" b="0" dirty="0">
                <a:solidFill>
                  <a:srgbClr val="A1A1AA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A1A1AA"/>
                </a:solidFill>
                <a:latin typeface="Aptos"/>
                <a:ea typeface="Aptos"/>
                <a:cs typeface="Aptos"/>
              </a:rPr>
              <a:t>демо</a:t>
            </a:r>
            <a:endParaRPr sz="900" b="0" dirty="0">
              <a:solidFill>
                <a:srgbClr val="A1A1A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2DBDA052-BC22-4F85-BBD2-2C1A74EFCFAC}"/>
              </a:ext>
            </a:extLst>
          </p:cNvPr>
          <p:cNvSpPr>
            <a:spLocks noGrp="1"/>
          </p:cNvSpPr>
          <p:nvPr/>
        </p:nvSpPr>
        <p:spPr>
          <a:xfrm>
            <a:off x="9715500" y="2628900"/>
            <a:ext cx="1676400" cy="990600"/>
          </a:xfrm>
          <a:prstGeom prst="roundRect">
            <a:avLst>
              <a:gd name="adj" fmla="val 7692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FD6D39F-D266-43E1-BC3F-0E0F5CA3F276}"/>
              </a:ext>
            </a:extLst>
          </p:cNvPr>
          <p:cNvSpPr>
            <a:spLocks noGrp="1"/>
          </p:cNvSpPr>
          <p:nvPr/>
        </p:nvSpPr>
        <p:spPr>
          <a:xfrm>
            <a:off x="9886950" y="2762250"/>
            <a:ext cx="1333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20CFC02-8FB9-4322-B417-584A46DACBF5}"/>
              </a:ext>
            </a:extLst>
          </p:cNvPr>
          <p:cNvSpPr>
            <a:spLocks noGrp="1"/>
          </p:cNvSpPr>
          <p:nvPr/>
        </p:nvSpPr>
        <p:spPr>
          <a:xfrm>
            <a:off x="9886950" y="316230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статусов звонка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09ACAAB4-1553-405D-AA1F-A4EBD6953502}"/>
              </a:ext>
            </a:extLst>
          </p:cNvPr>
          <p:cNvSpPr>
            <a:spLocks noGrp="1"/>
          </p:cNvSpPr>
          <p:nvPr/>
        </p:nvSpPr>
        <p:spPr>
          <a:xfrm>
            <a:off x="476250" y="1676400"/>
            <a:ext cx="7086600" cy="4229100"/>
          </a:xfrm>
          <a:prstGeom prst="roundRect">
            <a:avLst>
              <a:gd name="adj" fmla="val 1802"/>
            </a:avLst>
          </a:prstGeom>
          <a:solidFill>
            <a:srgbClr val="0D0D10"/>
          </a:solidFill>
          <a:ln w="9525">
            <a:solidFill>
              <a:srgbClr val="393942"/>
            </a:solidFill>
            <a:prstDash val="solid"/>
          </a:ln>
        </p:spPr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4423" y="1752600"/>
            <a:ext cx="5990253" cy="4076700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B294982-8C56-4509-8143-524E87BF30C7}"/>
              </a:ext>
            </a:extLst>
          </p:cNvPr>
          <p:cNvSpPr>
            <a:spLocks noGrp="1"/>
          </p:cNvSpPr>
          <p:nvPr/>
        </p:nvSpPr>
        <p:spPr>
          <a:xfrm>
            <a:off x="8077200" y="3905250"/>
            <a:ext cx="32575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Оператор работает по строкам: видит клиента, телефон, дату последнего визита, текущий статус, дедлайн и последнее саммари.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9F11E28-6F9E-4CCA-89C9-2D0576E5C9E7}"/>
              </a:ext>
            </a:extLst>
          </p:cNvPr>
          <p:cNvSpPr>
            <a:spLocks noGrp="1"/>
          </p:cNvSpPr>
          <p:nvPr/>
        </p:nvSpPr>
        <p:spPr>
          <a:xfrm>
            <a:off x="8077200" y="4914900"/>
            <a:ext cx="32575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Менеджеру не нужно собирать прогресс вручную: счетчики считаются по задаче.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8F65D65-E969-4EB0-9D1B-A1B6A4371C1E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Padel Park CRM / базы и задачи обзвона / 05</a:t>
            </a:r>
          </a:p>
        </p:txBody>
      </p:sp>
    </p:spTree>
    <p:extLst>
      <p:ext uri="{BB962C8B-B14F-4D97-AF65-F5344CB8AC3E}">
        <p14:creationId xmlns:p14="http://schemas.microsoft.com/office/powerpoint/2010/main" val="1920162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14B97F1-158B-4525-AB2C-EE8BE92E1ABF}"/>
              </a:ext>
            </a:extLst>
          </p:cNvPr>
          <p:cNvSpPr>
            <a:spLocks noGrp="1"/>
          </p:cNvSpPr>
          <p:nvPr/>
        </p:nvSpPr>
        <p:spPr>
          <a:xfrm>
            <a:off x="0" y="297711"/>
            <a:ext cx="12192000" cy="6858000"/>
          </a:xfrm>
          <a:prstGeom prst="rect">
            <a:avLst/>
          </a:prstGeom>
          <a:solidFill>
            <a:srgbClr val="0707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8883CF5-34A0-42F8-8BC1-C4120649C17C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63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09374B0-1843-4F31-8F48-BD6436E52F91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28575" rIns="0" bIns="0" anchor="t"/>
          <a:lstStyle/>
          <a:p>
            <a:pPr algn="l">
              <a:defRPr sz="105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РЕЗУЛЬТАТ ЗВОНКА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119A6AC-A485-47B7-827B-69052EA6ACE0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6667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Каждый звонок получает исход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16B42A6D-C929-4E2D-9D8D-76A013F2F212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5734050" cy="4457700"/>
          </a:xfrm>
          <a:prstGeom prst="roundRect">
            <a:avLst>
              <a:gd name="adj" fmla="val 1709"/>
            </a:avLst>
          </a:prstGeom>
          <a:solidFill>
            <a:srgbClr val="0D0D10"/>
          </a:solidFill>
          <a:ln w="9525">
            <a:solidFill>
              <a:srgbClr val="393942"/>
            </a:solidFill>
            <a:prstDash val="solid"/>
          </a:ln>
        </p:spPr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777339"/>
            <a:ext cx="5581650" cy="3798623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C00F71F2-2EB9-4E53-90D0-364619AD0C5E}"/>
              </a:ext>
            </a:extLst>
          </p:cNvPr>
          <p:cNvSpPr>
            <a:spLocks noGrp="1"/>
          </p:cNvSpPr>
          <p:nvPr/>
        </p:nvSpPr>
        <p:spPr>
          <a:xfrm>
            <a:off x="6724650" y="1504950"/>
            <a:ext cx="4762500" cy="3143250"/>
          </a:xfrm>
          <a:prstGeom prst="roundRect">
            <a:avLst>
              <a:gd name="adj" fmla="val 2424"/>
            </a:avLst>
          </a:prstGeom>
          <a:solidFill>
            <a:srgbClr val="0D0D10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FAC58EE-00A2-4ECF-B1D1-711587F6345E}"/>
              </a:ext>
            </a:extLst>
          </p:cNvPr>
          <p:cNvSpPr>
            <a:spLocks noGrp="1"/>
          </p:cNvSpPr>
          <p:nvPr/>
        </p:nvSpPr>
        <p:spPr>
          <a:xfrm>
            <a:off x="6896100" y="159067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Не звонили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0C7AC78-DCFC-4CE1-A66F-0CE1B9337E5C}"/>
              </a:ext>
            </a:extLst>
          </p:cNvPr>
          <p:cNvSpPr>
            <a:spLocks noGrp="1"/>
          </p:cNvSpPr>
          <p:nvPr/>
        </p:nvSpPr>
        <p:spPr>
          <a:xfrm>
            <a:off x="9086850" y="1590675"/>
            <a:ext cx="2190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исходное состояние клиента в задаче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865DF61-97B1-497D-A3A4-412C5E981B5C}"/>
              </a:ext>
            </a:extLst>
          </p:cNvPr>
          <p:cNvSpPr>
            <a:spLocks noGrp="1"/>
          </p:cNvSpPr>
          <p:nvPr/>
        </p:nvSpPr>
        <p:spPr>
          <a:xfrm>
            <a:off x="6877050" y="2038350"/>
            <a:ext cx="4457700" cy="9525"/>
          </a:xfrm>
          <a:prstGeom prst="rect">
            <a:avLst/>
          </a:prstGeom>
          <a:solidFill>
            <a:srgbClr val="2A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12D1BF8-4DCD-4FF2-8831-7ABEE6F40F83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Не взял трубку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50A2DB7-0713-4523-A3EC-04B71525A4F8}"/>
              </a:ext>
            </a:extLst>
          </p:cNvPr>
          <p:cNvSpPr>
            <a:spLocks noGrp="1"/>
          </p:cNvSpPr>
          <p:nvPr/>
        </p:nvSpPr>
        <p:spPr>
          <a:xfrm>
            <a:off x="9086850" y="2085975"/>
            <a:ext cx="2190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можно поставить следующий контакт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521AE6A-FBB8-451D-9CEE-4EEC3444A52E}"/>
              </a:ext>
            </a:extLst>
          </p:cNvPr>
          <p:cNvSpPr>
            <a:spLocks noGrp="1"/>
          </p:cNvSpPr>
          <p:nvPr/>
        </p:nvSpPr>
        <p:spPr>
          <a:xfrm>
            <a:off x="6877050" y="2533650"/>
            <a:ext cx="4457700" cy="9525"/>
          </a:xfrm>
          <a:prstGeom prst="rect">
            <a:avLst/>
          </a:prstGeom>
          <a:solidFill>
            <a:srgbClr val="2A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322C1F3-9387-4341-BC33-1DA10F4C2AE0}"/>
              </a:ext>
            </a:extLst>
          </p:cNvPr>
          <p:cNvSpPr>
            <a:spLocks noGrp="1"/>
          </p:cNvSpPr>
          <p:nvPr/>
        </p:nvSpPr>
        <p:spPr>
          <a:xfrm>
            <a:off x="6896100" y="258127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Перезвонить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B251294-FCF4-4E90-9773-932A0D67F264}"/>
              </a:ext>
            </a:extLst>
          </p:cNvPr>
          <p:cNvSpPr>
            <a:spLocks noGrp="1"/>
          </p:cNvSpPr>
          <p:nvPr/>
        </p:nvSpPr>
        <p:spPr>
          <a:xfrm>
            <a:off x="9086850" y="2581275"/>
            <a:ext cx="2190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обязательно с дедлайном по клиенту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19BC9DF-0939-4537-BC65-7784D27F3E41}"/>
              </a:ext>
            </a:extLst>
          </p:cNvPr>
          <p:cNvSpPr>
            <a:spLocks noGrp="1"/>
          </p:cNvSpPr>
          <p:nvPr/>
        </p:nvSpPr>
        <p:spPr>
          <a:xfrm>
            <a:off x="6877050" y="3028950"/>
            <a:ext cx="4457700" cy="9525"/>
          </a:xfrm>
          <a:prstGeom prst="rect">
            <a:avLst/>
          </a:prstGeom>
          <a:solidFill>
            <a:srgbClr val="2A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2CEBD8F-ED78-4ABF-A5B9-8F4ED7D33D21}"/>
              </a:ext>
            </a:extLst>
          </p:cNvPr>
          <p:cNvSpPr>
            <a:spLocks noGrp="1"/>
          </p:cNvSpPr>
          <p:nvPr/>
        </p:nvSpPr>
        <p:spPr>
          <a:xfrm>
            <a:off x="6896100" y="307657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8A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8A5C"/>
                </a:solidFill>
                <a:latin typeface="Aptos"/>
                <a:ea typeface="Aptos"/>
                <a:cs typeface="Aptos"/>
              </a:rPr>
              <a:t>Сомневается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BE04150-38C2-4221-9F16-CA8497686151}"/>
              </a:ext>
            </a:extLst>
          </p:cNvPr>
          <p:cNvSpPr>
            <a:spLocks noGrp="1"/>
          </p:cNvSpPr>
          <p:nvPr/>
        </p:nvSpPr>
        <p:spPr>
          <a:xfrm>
            <a:off x="9086850" y="3076575"/>
            <a:ext cx="2190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фиксируем возражения в саммари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D6755AA-1AFD-47FF-BEE8-7809F15AEBCE}"/>
              </a:ext>
            </a:extLst>
          </p:cNvPr>
          <p:cNvSpPr>
            <a:spLocks noGrp="1"/>
          </p:cNvSpPr>
          <p:nvPr/>
        </p:nvSpPr>
        <p:spPr>
          <a:xfrm>
            <a:off x="6877050" y="3524250"/>
            <a:ext cx="4457700" cy="9525"/>
          </a:xfrm>
          <a:prstGeom prst="rect">
            <a:avLst/>
          </a:prstGeom>
          <a:solidFill>
            <a:srgbClr val="2A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447D2AB-CE6F-459A-A83D-8ED29987CB39}"/>
              </a:ext>
            </a:extLst>
          </p:cNvPr>
          <p:cNvSpPr>
            <a:spLocks noGrp="1"/>
          </p:cNvSpPr>
          <p:nvPr/>
        </p:nvSpPr>
        <p:spPr>
          <a:xfrm>
            <a:off x="6896100" y="357187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Записался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7B05492-C46D-4181-854B-652EC866B9A8}"/>
              </a:ext>
            </a:extLst>
          </p:cNvPr>
          <p:cNvSpPr>
            <a:spLocks noGrp="1"/>
          </p:cNvSpPr>
          <p:nvPr/>
        </p:nvSpPr>
        <p:spPr>
          <a:xfrm>
            <a:off x="9086850" y="3571875"/>
            <a:ext cx="2190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успешный результат обзвона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B4CC47B-C638-465A-BF8B-059A815E0D80}"/>
              </a:ext>
            </a:extLst>
          </p:cNvPr>
          <p:cNvSpPr>
            <a:spLocks noGrp="1"/>
          </p:cNvSpPr>
          <p:nvPr/>
        </p:nvSpPr>
        <p:spPr>
          <a:xfrm>
            <a:off x="6877050" y="4019550"/>
            <a:ext cx="4457700" cy="9525"/>
          </a:xfrm>
          <a:prstGeom prst="rect">
            <a:avLst/>
          </a:prstGeom>
          <a:solidFill>
            <a:srgbClr val="2A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55C6885-C5E5-4D4B-9CDE-8F743DD8E285}"/>
              </a:ext>
            </a:extLst>
          </p:cNvPr>
          <p:cNvSpPr>
            <a:spLocks noGrp="1"/>
          </p:cNvSpPr>
          <p:nvPr/>
        </p:nvSpPr>
        <p:spPr>
          <a:xfrm>
            <a:off x="6896100" y="406717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Отказ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3A3C8AD-6D64-4782-908B-C8721FEFCE76}"/>
              </a:ext>
            </a:extLst>
          </p:cNvPr>
          <p:cNvSpPr>
            <a:spLocks noGrp="1"/>
          </p:cNvSpPr>
          <p:nvPr/>
        </p:nvSpPr>
        <p:spPr>
          <a:xfrm>
            <a:off x="9086850" y="4067175"/>
            <a:ext cx="2190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отказ только внутри задачи, не архивирует клиента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0E941E3-3869-4E0F-B49D-F2740DD2D591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Padel Park CRM / базы и задачи обзвона / 06</a:t>
            </a:r>
          </a:p>
        </p:txBody>
      </p:sp>
    </p:spTree>
    <p:extLst>
      <p:ext uri="{BB962C8B-B14F-4D97-AF65-F5344CB8AC3E}">
        <p14:creationId xmlns:p14="http://schemas.microsoft.com/office/powerpoint/2010/main" val="247348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C38BAEB-C279-4BE9-BB8E-2701F73839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6658444-8CDB-4DC4-B4AA-DFFEA28760D3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63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5CE454A-95D4-4976-8019-C8DB732D4863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28575" rIns="0" bIns="0" anchor="t"/>
          <a:lstStyle/>
          <a:p>
            <a:pPr algn="l">
              <a:defRPr sz="105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ПРАВИЛА РАБОТЫ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60FF47B-CE0F-44E0-A2E6-4E4BA015342F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6667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Архив, статусы и заметки не смешиваются между собой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806E836-BD9B-4E6A-B20A-1A10A5CCD90B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628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Это важно, чтобы CRM не превращалась в набор ручных таблиц.</a:t>
            </a: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49011F82-6A02-4A0C-8747-3B8702E3F947}"/>
              </a:ext>
            </a:extLst>
          </p:cNvPr>
          <p:cNvSpPr>
            <a:spLocks noGrp="1"/>
          </p:cNvSpPr>
          <p:nvPr/>
        </p:nvSpPr>
        <p:spPr>
          <a:xfrm>
            <a:off x="800100" y="2514600"/>
            <a:ext cx="10591800" cy="3257550"/>
          </a:xfrm>
          <a:prstGeom prst="roundRect">
            <a:avLst>
              <a:gd name="adj" fmla="val 2339"/>
            </a:avLst>
          </a:prstGeom>
          <a:solidFill>
            <a:srgbClr val="0D0D10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0C1AB16-A221-49CE-8975-D1D8777166E5}"/>
              </a:ext>
            </a:extLst>
          </p:cNvPr>
          <p:cNvSpPr>
            <a:spLocks noGrp="1"/>
          </p:cNvSpPr>
          <p:nvPr/>
        </p:nvSpPr>
        <p:spPr>
          <a:xfrm>
            <a:off x="971550" y="260032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Архив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8679FCF-ED2B-4D56-A66A-CC738A19A035}"/>
              </a:ext>
            </a:extLst>
          </p:cNvPr>
          <p:cNvSpPr>
            <a:spLocks noGrp="1"/>
          </p:cNvSpPr>
          <p:nvPr/>
        </p:nvSpPr>
        <p:spPr>
          <a:xfrm>
            <a:off x="3162300" y="2600325"/>
            <a:ext cx="8020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не удаляет данные, а убирает базу или задачу из активной работы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C821850-CDCB-4728-8563-9AE752A50378}"/>
              </a:ext>
            </a:extLst>
          </p:cNvPr>
          <p:cNvSpPr>
            <a:spLocks noGrp="1"/>
          </p:cNvSpPr>
          <p:nvPr/>
        </p:nvSpPr>
        <p:spPr>
          <a:xfrm>
            <a:off x="952500" y="3067050"/>
            <a:ext cx="10287000" cy="9525"/>
          </a:xfrm>
          <a:prstGeom prst="rect">
            <a:avLst/>
          </a:prstGeom>
          <a:solidFill>
            <a:srgbClr val="2A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0972F4-0957-44B3-9A28-6DE5B76F2CFD}"/>
              </a:ext>
            </a:extLst>
          </p:cNvPr>
          <p:cNvSpPr>
            <a:spLocks noGrp="1"/>
          </p:cNvSpPr>
          <p:nvPr/>
        </p:nvSpPr>
        <p:spPr>
          <a:xfrm>
            <a:off x="971550" y="311467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Статус звонка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6DE0B18-3951-4EDE-A971-0B5C5FA2F2BF}"/>
              </a:ext>
            </a:extLst>
          </p:cNvPr>
          <p:cNvSpPr>
            <a:spLocks noGrp="1"/>
          </p:cNvSpPr>
          <p:nvPr/>
        </p:nvSpPr>
        <p:spPr>
          <a:xfrm>
            <a:off x="3162300" y="3114675"/>
            <a:ext cx="8020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не меняет статус клиента в CRM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76723E6-B87A-4F84-B032-25EFA3E6FB5B}"/>
              </a:ext>
            </a:extLst>
          </p:cNvPr>
          <p:cNvSpPr>
            <a:spLocks noGrp="1"/>
          </p:cNvSpPr>
          <p:nvPr/>
        </p:nvSpPr>
        <p:spPr>
          <a:xfrm>
            <a:off x="952500" y="3581400"/>
            <a:ext cx="10287000" cy="9525"/>
          </a:xfrm>
          <a:prstGeom prst="rect">
            <a:avLst/>
          </a:prstGeom>
          <a:solidFill>
            <a:srgbClr val="2A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BE0DCE2-F5BE-4BE7-B837-4B7DA64BF64F}"/>
              </a:ext>
            </a:extLst>
          </p:cNvPr>
          <p:cNvSpPr>
            <a:spLocks noGrp="1"/>
          </p:cNvSpPr>
          <p:nvPr/>
        </p:nvSpPr>
        <p:spPr>
          <a:xfrm>
            <a:off x="971550" y="362902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Отказ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DD19B2C-AF31-498E-9CB3-A37C3C8FDF6E}"/>
              </a:ext>
            </a:extLst>
          </p:cNvPr>
          <p:cNvSpPr>
            <a:spLocks noGrp="1"/>
          </p:cNvSpPr>
          <p:nvPr/>
        </p:nvSpPr>
        <p:spPr>
          <a:xfrm>
            <a:off x="3162300" y="3629025"/>
            <a:ext cx="8020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означает отказ в рамках конкретной задачи, клиент остается в базе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6EC4F2B-1C0D-4CFA-9801-43A840143519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10287000" cy="9525"/>
          </a:xfrm>
          <a:prstGeom prst="rect">
            <a:avLst/>
          </a:prstGeom>
          <a:solidFill>
            <a:srgbClr val="2A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5C7692C-F45F-4DCE-BCC9-E21075341101}"/>
              </a:ext>
            </a:extLst>
          </p:cNvPr>
          <p:cNvSpPr>
            <a:spLocks noGrp="1"/>
          </p:cNvSpPr>
          <p:nvPr/>
        </p:nvSpPr>
        <p:spPr>
          <a:xfrm>
            <a:off x="971550" y="414337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Саммари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5CE8045-9067-4B92-A424-432F84162A19}"/>
              </a:ext>
            </a:extLst>
          </p:cNvPr>
          <p:cNvSpPr>
            <a:spLocks noGrp="1"/>
          </p:cNvSpPr>
          <p:nvPr/>
        </p:nvSpPr>
        <p:spPr>
          <a:xfrm>
            <a:off x="3162300" y="4143375"/>
            <a:ext cx="8020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хранится в истории звонков задачи и не затирает заметку клиента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54E62A5-A4B7-4B0D-96D9-B7D2E59DD6CC}"/>
              </a:ext>
            </a:extLst>
          </p:cNvPr>
          <p:cNvSpPr>
            <a:spLocks noGrp="1"/>
          </p:cNvSpPr>
          <p:nvPr/>
        </p:nvSpPr>
        <p:spPr>
          <a:xfrm>
            <a:off x="952500" y="4610100"/>
            <a:ext cx="10287000" cy="9525"/>
          </a:xfrm>
          <a:prstGeom prst="rect">
            <a:avLst/>
          </a:prstGeom>
          <a:solidFill>
            <a:srgbClr val="2A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ACF2A66-70B3-4924-9856-7FB833A94FB5}"/>
              </a:ext>
            </a:extLst>
          </p:cNvPr>
          <p:cNvSpPr>
            <a:spLocks noGrp="1"/>
          </p:cNvSpPr>
          <p:nvPr/>
        </p:nvSpPr>
        <p:spPr>
          <a:xfrm>
            <a:off x="971550" y="465772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База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89F1D2A-E5C2-47C6-82DF-ACD543FDBB77}"/>
              </a:ext>
            </a:extLst>
          </p:cNvPr>
          <p:cNvSpPr>
            <a:spLocks noGrp="1"/>
          </p:cNvSpPr>
          <p:nvPr/>
        </p:nvSpPr>
        <p:spPr>
          <a:xfrm>
            <a:off x="3162300" y="4657725"/>
            <a:ext cx="8020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отвечает за отбор клиентов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68AC818-24D3-4726-833E-C298EE68FB58}"/>
              </a:ext>
            </a:extLst>
          </p:cNvPr>
          <p:cNvSpPr>
            <a:spLocks noGrp="1"/>
          </p:cNvSpPr>
          <p:nvPr/>
        </p:nvSpPr>
        <p:spPr>
          <a:xfrm>
            <a:off x="952500" y="5124450"/>
            <a:ext cx="10287000" cy="9525"/>
          </a:xfrm>
          <a:prstGeom prst="rect">
            <a:avLst/>
          </a:prstGeom>
          <a:solidFill>
            <a:srgbClr val="2A2A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1495CD4-6C17-4378-BB46-F9ED67678F9C}"/>
              </a:ext>
            </a:extLst>
          </p:cNvPr>
          <p:cNvSpPr>
            <a:spLocks noGrp="1"/>
          </p:cNvSpPr>
          <p:nvPr/>
        </p:nvSpPr>
        <p:spPr>
          <a:xfrm>
            <a:off x="971550" y="517207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Задача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0304F00-64F5-4C9E-B46A-2406F15B8E79}"/>
              </a:ext>
            </a:extLst>
          </p:cNvPr>
          <p:cNvSpPr>
            <a:spLocks noGrp="1"/>
          </p:cNvSpPr>
          <p:nvPr/>
        </p:nvSpPr>
        <p:spPr>
          <a:xfrm>
            <a:off x="3162300" y="5172075"/>
            <a:ext cx="8020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отвечает за исполнителя, дедлайны и контроль выполнения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2D1D71C-7CA8-48E2-A822-B3353BD59A0C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Padel Park CRM / базы и задачи обзвона / 07</a:t>
            </a:r>
          </a:p>
        </p:txBody>
      </p:sp>
    </p:spTree>
    <p:extLst>
      <p:ext uri="{BB962C8B-B14F-4D97-AF65-F5344CB8AC3E}">
        <p14:creationId xmlns:p14="http://schemas.microsoft.com/office/powerpoint/2010/main" val="1133765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D12D3C1-91BB-45AE-ABF0-9870D1E5FE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C40C465-2BDD-4C43-AB53-C2BEA5F3AE05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63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2CFFDF9-AC48-4EB2-B598-B06370AF7178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28575" rIns="0" bIns="0" anchor="t"/>
          <a:lstStyle/>
          <a:p>
            <a:pPr algn="l">
              <a:defRPr sz="105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КАК ПРОВЕРИТЬ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262A745-CAF4-407A-910D-49B9AC4BC0F6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6667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Демо готово в локальной базе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EDEBEE17-4716-4379-8A49-AFB3F8447D29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4743450" cy="2571750"/>
          </a:xfrm>
          <a:prstGeom prst="roundRect">
            <a:avLst>
              <a:gd name="adj" fmla="val 2963"/>
            </a:avLst>
          </a:prstGeom>
          <a:solidFill>
            <a:srgbClr val="131318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7995FF5-88C0-4345-B6F7-68A3B49EF1FE}"/>
              </a:ext>
            </a:extLst>
          </p:cNvPr>
          <p:cNvSpPr>
            <a:spLocks noGrp="1"/>
          </p:cNvSpPr>
          <p:nvPr/>
        </p:nvSpPr>
        <p:spPr>
          <a:xfrm>
            <a:off x="895350" y="238125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7F8"/>
                </a:solidFill>
                <a:latin typeface="Aptos"/>
                <a:ea typeface="Aptos"/>
                <a:cs typeface="Aptos"/>
              </a:rPr>
              <a:t>Что искать в CRM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F126832F-40AF-41C6-81D4-99D12F042D46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EA63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DE15741-56EA-4D28-B823-C52FB3B34DAB}"/>
              </a:ext>
            </a:extLst>
          </p:cNvPr>
          <p:cNvSpPr>
            <a:spLocks noGrp="1"/>
          </p:cNvSpPr>
          <p:nvPr/>
        </p:nvSpPr>
        <p:spPr>
          <a:xfrm>
            <a:off x="1085850" y="2952750"/>
            <a:ext cx="3810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База: Демо CRM: Новички недели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F8B2F40F-1994-4B1A-928D-357B8EDA89F8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EBDFAB7-F109-40AA-B694-F8E5CD7D3580}"/>
              </a:ext>
            </a:extLst>
          </p:cNvPr>
          <p:cNvSpPr>
            <a:spLocks noGrp="1"/>
          </p:cNvSpPr>
          <p:nvPr/>
        </p:nvSpPr>
        <p:spPr>
          <a:xfrm>
            <a:off x="1085850" y="3467100"/>
            <a:ext cx="3810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Задача: Демо CRM: обзвон новичков недели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35C9D8FA-F259-41A6-B47E-3657EC44B5B9}"/>
              </a:ext>
            </a:extLst>
          </p:cNvPr>
          <p:cNvSpPr>
            <a:spLocks noGrp="1"/>
          </p:cNvSpPr>
          <p:nvPr/>
        </p:nvSpPr>
        <p:spPr>
          <a:xfrm>
            <a:off x="914400" y="40576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1358AC5-CE6C-40BD-AC9B-5B486F579358}"/>
              </a:ext>
            </a:extLst>
          </p:cNvPr>
          <p:cNvSpPr>
            <a:spLocks noGrp="1"/>
          </p:cNvSpPr>
          <p:nvPr/>
        </p:nvSpPr>
        <p:spPr>
          <a:xfrm>
            <a:off x="1085850" y="3981450"/>
            <a:ext cx="3810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5 клиентов с разными результатами звонка</a:t>
            </a: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0173692A-6D08-4C15-8FCF-9EBB9970D1F7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4743450" cy="800100"/>
          </a:xfrm>
          <a:prstGeom prst="roundRect">
            <a:avLst>
              <a:gd name="adj" fmla="val 9524"/>
            </a:avLst>
          </a:prstGeom>
          <a:solidFill>
            <a:srgbClr val="0D0D10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FCECE78-AD16-44A2-8AF1-BF5CBA295926}"/>
              </a:ext>
            </a:extLst>
          </p:cNvPr>
          <p:cNvSpPr>
            <a:spLocks noGrp="1"/>
          </p:cNvSpPr>
          <p:nvPr/>
        </p:nvSpPr>
        <p:spPr>
          <a:xfrm>
            <a:off x="895350" y="5029200"/>
            <a:ext cx="4095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Путь проверки: Базы клиентов -&gt; телефон у базы -&gt; Задачи обзвона -&gt; открыть задачу -&gt; результат клиента.</a:t>
            </a: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156D88E8-834F-4FD6-92ED-6B47A670D921}"/>
              </a:ext>
            </a:extLst>
          </p:cNvPr>
          <p:cNvSpPr>
            <a:spLocks noGrp="1"/>
          </p:cNvSpPr>
          <p:nvPr/>
        </p:nvSpPr>
        <p:spPr>
          <a:xfrm>
            <a:off x="5905500" y="1447800"/>
            <a:ext cx="5410200" cy="4076700"/>
          </a:xfrm>
          <a:prstGeom prst="roundRect">
            <a:avLst>
              <a:gd name="adj" fmla="val 1869"/>
            </a:avLst>
          </a:prstGeom>
          <a:solidFill>
            <a:srgbClr val="0D0D10"/>
          </a:solidFill>
          <a:ln w="9525">
            <a:solidFill>
              <a:srgbClr val="393942"/>
            </a:solidFill>
            <a:prstDash val="solid"/>
          </a:ln>
        </p:spPr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81700" y="1697038"/>
            <a:ext cx="5257800" cy="3578225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F486027-177F-4CF3-9C05-2A099E300EC5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Padel Park CRM / базы и задачи обзвона / 08</a:t>
            </a:r>
          </a:p>
        </p:txBody>
      </p:sp>
    </p:spTree>
    <p:extLst>
      <p:ext uri="{BB962C8B-B14F-4D97-AF65-F5344CB8AC3E}">
        <p14:creationId xmlns:p14="http://schemas.microsoft.com/office/powerpoint/2010/main" val="18811470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</Words>
  <Application>Microsoft Macintosh PowerPoint</Application>
  <DocSecurity>0</DocSecurity>
  <PresentationFormat>Широкоэкранный</PresentationFormat>
  <Paragraphs>99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1</cp:revision>
  <dcterms:created xsi:type="dcterms:W3CDTF">2026-05-20T11:39:02Z</dcterms:created>
  <dcterms:modified xsi:type="dcterms:W3CDTF">2026-05-20T11:46:32Z</dcterms:modified>
</cp:coreProperties>
</file>